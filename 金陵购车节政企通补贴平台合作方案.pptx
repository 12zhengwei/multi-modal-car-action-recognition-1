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CC0000"/>
                </a:solidFill>
              </a:defRPr>
            </a:pPr>
            <a:r>
              <a:t>金陵购车节"政企通"补贴平台合作方案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04040"/>
                </a:solidFill>
              </a:defRPr>
            </a:pPr>
            <a:r>
              <a:t>暨招商银行零售业务增长新机遇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404040"/>
                </a:solidFill>
              </a:defRPr>
            </a:pPr>
            <a:r>
              <a:t>招商银行 + 金陵市商务局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0C0C0"/>
                </a:solidFill>
              </a:defRPr>
            </a:pPr>
            <a:r>
              <a:t>2025年10月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CC0000"/>
                </a:solidFill>
              </a:defRPr>
            </a:pPr>
            <a:r>
              <a:t>政银合作，共促消费新篇章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2000" b="1">
                <a:solidFill>
                  <a:srgbClr val="404040"/>
                </a:solidFill>
              </a:defRPr>
            </a:pPr>
            <a:r>
              <a:t>• 政府目标：</a:t>
            </a:r>
          </a:p>
          <a:p>
            <a:pPr lvl="1">
              <a:spcAft>
                <a:spcPts val="1200"/>
              </a:spcAft>
              <a:defRPr sz="1600">
                <a:solidFill>
                  <a:srgbClr val="404040"/>
                </a:solidFill>
              </a:defRPr>
            </a:pPr>
            <a:r>
              <a:t>金陵市商务局致力于促进汽车消费、拉动内需，推动本地经济高质量发展</a:t>
            </a:r>
          </a:p>
          <a:p>
            <a:pPr>
              <a:spcAft>
                <a:spcPts val="600"/>
              </a:spcAft>
              <a:defRPr sz="2000" b="1">
                <a:solidFill>
                  <a:srgbClr val="404040"/>
                </a:solidFill>
              </a:defRPr>
            </a:pPr>
            <a:r>
              <a:t>• 项目概述：</a:t>
            </a:r>
          </a:p>
          <a:p>
            <a:pPr lvl="1">
              <a:spcAft>
                <a:spcPts val="1200"/>
              </a:spcAft>
              <a:defRPr sz="1600">
                <a:solidFill>
                  <a:srgbClr val="404040"/>
                </a:solidFill>
              </a:defRPr>
            </a:pPr>
            <a:r>
              <a:t>活动时间：2025年第四季度</a:t>
            </a:r>
            <a:br/>
            <a:r>
              <a:t>补贴总额：2000万元</a:t>
            </a:r>
            <a:br/>
            <a:r>
              <a:t>补贴标准：3000-5000元/车</a:t>
            </a:r>
          </a:p>
          <a:p>
            <a:pPr>
              <a:spcAft>
                <a:spcPts val="600"/>
              </a:spcAft>
              <a:defRPr sz="2000" b="1">
                <a:solidFill>
                  <a:srgbClr val="404040"/>
                </a:solidFill>
              </a:defRPr>
            </a:pPr>
            <a:r>
              <a:t>• 我行角色：</a:t>
            </a:r>
          </a:p>
          <a:p>
            <a:pPr lvl="1">
              <a:spcAft>
                <a:spcPts val="1200"/>
              </a:spcAft>
              <a:defRPr sz="1600">
                <a:solidFill>
                  <a:srgbClr val="404040"/>
                </a:solidFill>
              </a:defRPr>
            </a:pPr>
            <a:r>
              <a:t>作为独家合作银行，负责平台开发、资金发放与核销的核心工作</a:t>
            </a:r>
          </a:p>
          <a:p>
            <a:pPr>
              <a:spcAft>
                <a:spcPts val="600"/>
              </a:spcAft>
              <a:defRPr sz="2000" b="1">
                <a:solidFill>
                  <a:srgbClr val="404040"/>
                </a:solidFill>
              </a:defRPr>
            </a:pPr>
            <a:r>
              <a:t>• 机遇洞察：</a:t>
            </a:r>
          </a:p>
          <a:p>
            <a:pPr lvl="1">
              <a:spcAft>
                <a:spcPts val="1200"/>
              </a:spcAft>
              <a:defRPr sz="1600">
                <a:solidFill>
                  <a:srgbClr val="404040"/>
                </a:solidFill>
              </a:defRPr>
            </a:pPr>
            <a:r>
              <a:t>这不仅是完成政府任务，更是品牌提升、客户增长、业务拓展的宝贵机遇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CC0000"/>
                </a:solidFill>
              </a:defRPr>
            </a:pPr>
            <a:r>
              <a:t>聚焦核心客群，最大化合作价值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200" b="1">
                <a:solidFill>
                  <a:srgbClr val="404040"/>
                </a:solidFill>
              </a:defRPr>
            </a:pPr>
            <a:r>
              <a:t>核心目标人群</a:t>
            </a:r>
          </a:p>
          <a:p>
            <a:pPr lvl="1">
              <a:spcAft>
                <a:spcPts val="1200"/>
              </a:spcAft>
              <a:defRPr sz="1600">
                <a:solidFill>
                  <a:srgbClr val="404040"/>
                </a:solidFill>
              </a:defRPr>
            </a:pPr>
            <a:r>
              <a:t>金陵市内购买新车的个人消费者</a:t>
            </a:r>
          </a:p>
          <a:p>
            <a:pPr>
              <a:spcAft>
                <a:spcPts val="800"/>
              </a:spcAft>
              <a:defRPr sz="2200" b="1">
                <a:solidFill>
                  <a:srgbClr val="404040"/>
                </a:solidFill>
              </a:defRPr>
            </a:pPr>
            <a:r>
              <a:t>两大核心客群画像</a:t>
            </a:r>
          </a:p>
          <a:p>
            <a:pPr lvl="1">
              <a:spcAft>
                <a:spcPts val="400"/>
              </a:spcAft>
              <a:defRPr sz="1800" b="1">
                <a:solidFill>
                  <a:srgbClr val="404040"/>
                </a:solidFill>
              </a:defRPr>
            </a:pPr>
            <a:r>
              <a:t>✓ 首购族青年：</a:t>
            </a:r>
          </a:p>
          <a:p>
            <a:pPr lvl="2">
              <a:spcAft>
                <a:spcPts val="1000"/>
              </a:spcAft>
              <a:defRPr sz="1500">
                <a:solidFill>
                  <a:srgbClr val="404040"/>
                </a:solidFill>
              </a:defRPr>
            </a:pPr>
            <a:r>
              <a:t>对价格敏感，习惯线上操作，是潜在的信用卡和信贷用户</a:t>
            </a:r>
          </a:p>
          <a:p>
            <a:pPr lvl="1">
              <a:spcAft>
                <a:spcPts val="400"/>
              </a:spcAft>
              <a:defRPr sz="1800" b="1">
                <a:solidFill>
                  <a:srgbClr val="404040"/>
                </a:solidFill>
              </a:defRPr>
            </a:pPr>
            <a:r>
              <a:t>✓ 家庭升级用户：</a:t>
            </a:r>
          </a:p>
          <a:p>
            <a:pPr lvl="2">
              <a:spcAft>
                <a:spcPts val="1000"/>
              </a:spcAft>
              <a:defRPr sz="1500">
                <a:solidFill>
                  <a:srgbClr val="404040"/>
                </a:solidFill>
              </a:defRPr>
            </a:pPr>
            <a:r>
              <a:t>追求品质，有更高消费能力，是财富管理和综合金融服务的潜在客户</a:t>
            </a:r>
          </a:p>
          <a:p>
            <a:pPr>
              <a:spcAft>
                <a:spcPts val="800"/>
              </a:spcAft>
              <a:defRPr sz="2200" b="1">
                <a:solidFill>
                  <a:srgbClr val="404040"/>
                </a:solidFill>
              </a:defRPr>
            </a:pPr>
            <a:r>
              <a:t>策略</a:t>
            </a:r>
          </a:p>
          <a:p>
            <a:pPr lvl="1">
              <a:defRPr sz="1600">
                <a:solidFill>
                  <a:srgbClr val="404040"/>
                </a:solidFill>
              </a:defRPr>
            </a:pPr>
            <a:r>
              <a:t>通过精准定位，为不同客群设计针对性服务，实现价值最大化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CC0000"/>
                </a:solidFill>
              </a:defRPr>
            </a:pPr>
            <a:r>
              <a:t>借鉴卓越实践，启发我行方案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2000" b="1">
                <a:solidFill>
                  <a:srgbClr val="404040"/>
                </a:solidFill>
              </a:defRPr>
            </a:pPr>
            <a:r>
              <a:t>• 启示一（建行案例）</a:t>
            </a:r>
          </a:p>
          <a:p>
            <a:pPr lvl="1">
              <a:spcAft>
                <a:spcPts val="1400"/>
              </a:spcAft>
              <a:defRPr sz="1600">
                <a:solidFill>
                  <a:srgbClr val="404040"/>
                </a:solidFill>
              </a:defRPr>
            </a:pPr>
            <a:r>
              <a:t>"政府搭台、银行助力"模式可快速起量，我行App可作为核心载体</a:t>
            </a:r>
          </a:p>
          <a:p>
            <a:pPr>
              <a:spcAft>
                <a:spcPts val="600"/>
              </a:spcAft>
              <a:defRPr sz="2000" b="1">
                <a:solidFill>
                  <a:srgbClr val="404040"/>
                </a:solidFill>
              </a:defRPr>
            </a:pPr>
            <a:r>
              <a:t>• 启示二（多银行实践）</a:t>
            </a:r>
          </a:p>
          <a:p>
            <a:pPr lvl="1">
              <a:spcAft>
                <a:spcPts val="1400"/>
              </a:spcAft>
              <a:defRPr sz="1600">
                <a:solidFill>
                  <a:srgbClr val="404040"/>
                </a:solidFill>
              </a:defRPr>
            </a:pPr>
            <a:r>
              <a:t>"线上领券+线下核销"模式成熟有效，是实现全场景消费闭环的关键</a:t>
            </a:r>
          </a:p>
          <a:p>
            <a:pPr>
              <a:spcAft>
                <a:spcPts val="600"/>
              </a:spcAft>
              <a:defRPr sz="2000" b="1">
                <a:solidFill>
                  <a:srgbClr val="404040"/>
                </a:solidFill>
              </a:defRPr>
            </a:pPr>
            <a:r>
              <a:t>• 启示三（邮储银行案例）</a:t>
            </a:r>
          </a:p>
          <a:p>
            <a:pPr lvl="1">
              <a:spcAft>
                <a:spcPts val="1400"/>
              </a:spcAft>
              <a:defRPr sz="1600">
                <a:solidFill>
                  <a:srgbClr val="404040"/>
                </a:solidFill>
              </a:defRPr>
            </a:pPr>
            <a:r>
              <a:t>"政府补贴+银行优惠"双重激励能极大激发热情，并有效带动信用卡和贷款业务</a:t>
            </a:r>
          </a:p>
          <a:p>
            <a:pPr>
              <a:spcAft>
                <a:spcPts val="800"/>
              </a:spcAft>
              <a:defRPr sz="2200" b="1">
                <a:solidFill>
                  <a:srgbClr val="CC0000"/>
                </a:solidFill>
              </a:defRPr>
            </a:pPr>
            <a:r>
              <a:t>结论</a:t>
            </a:r>
          </a:p>
          <a:p>
            <a:pPr lvl="1">
              <a:defRPr sz="1600">
                <a:solidFill>
                  <a:srgbClr val="404040"/>
                </a:solidFill>
              </a:defRPr>
            </a:pPr>
            <a:r>
              <a:t>我们的方案必须超越一个简单的申请工具，构建一个"获客-活客-留客"的业务闭环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CC0000"/>
                </a:solidFill>
              </a:defRPr>
            </a:pPr>
            <a:r>
              <a:t>一站式"政企通"补贴平台总体架构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200" b="1">
                <a:solidFill>
                  <a:srgbClr val="404040"/>
                </a:solidFill>
              </a:defRPr>
            </a:pPr>
            <a:r>
              <a:t>平台三大核心组成部分</a:t>
            </a:r>
          </a:p>
          <a:p>
            <a:pPr>
              <a:spcAft>
                <a:spcPts val="400"/>
              </a:spcAft>
              <a:defRPr sz="2000" b="1">
                <a:solidFill>
                  <a:srgbClr val="404040"/>
                </a:solidFill>
              </a:defRPr>
            </a:pPr>
            <a:r>
              <a:t>▶ C端用户入口</a:t>
            </a:r>
          </a:p>
          <a:p>
            <a:pPr lvl="1">
              <a:spcAft>
                <a:spcPts val="200"/>
              </a:spcAft>
              <a:defRPr sz="1600">
                <a:solidFill>
                  <a:srgbClr val="404040"/>
                </a:solidFill>
              </a:defRPr>
            </a:pPr>
            <a:r>
              <a:t>"补贴申请"小程序（内嵌于招行App或微信生态）</a:t>
            </a:r>
          </a:p>
          <a:p>
            <a:pPr lvl="2">
              <a:spcAft>
                <a:spcPts val="1000"/>
              </a:spcAft>
              <a:defRPr sz="1400">
                <a:solidFill>
                  <a:srgbClr val="C0C0C0"/>
                </a:solidFill>
              </a:defRPr>
            </a:pPr>
            <a:r>
              <a:t>→ 便捷的用户申请体验</a:t>
            </a:r>
          </a:p>
          <a:p>
            <a:pPr>
              <a:spcAft>
                <a:spcPts val="400"/>
              </a:spcAft>
              <a:defRPr sz="2000" b="1">
                <a:solidFill>
                  <a:srgbClr val="404040"/>
                </a:solidFill>
              </a:defRPr>
            </a:pPr>
            <a:r>
              <a:t>▶ B端管理后台</a:t>
            </a:r>
          </a:p>
          <a:p>
            <a:pPr lvl="1">
              <a:spcAft>
                <a:spcPts val="200"/>
              </a:spcAft>
              <a:defRPr sz="1600">
                <a:solidFill>
                  <a:srgbClr val="404040"/>
                </a:solidFill>
              </a:defRPr>
            </a:pPr>
            <a:r>
              <a:t>补贴申请审核平台（供银行和商务局人员使用）</a:t>
            </a:r>
          </a:p>
          <a:p>
            <a:pPr lvl="2">
              <a:spcAft>
                <a:spcPts val="1000"/>
              </a:spcAft>
              <a:defRPr sz="1400">
                <a:solidFill>
                  <a:srgbClr val="C0C0C0"/>
                </a:solidFill>
              </a:defRPr>
            </a:pPr>
            <a:r>
              <a:t>→ 高效的审核管理工具</a:t>
            </a:r>
          </a:p>
          <a:p>
            <a:pPr>
              <a:spcAft>
                <a:spcPts val="400"/>
              </a:spcAft>
              <a:defRPr sz="2000" b="1">
                <a:solidFill>
                  <a:srgbClr val="404040"/>
                </a:solidFill>
              </a:defRPr>
            </a:pPr>
            <a:r>
              <a:t>▶ 底层支撑系统</a:t>
            </a:r>
          </a:p>
          <a:p>
            <a:pPr lvl="1">
              <a:spcAft>
                <a:spcPts val="200"/>
              </a:spcAft>
              <a:defRPr sz="1600">
                <a:solidFill>
                  <a:srgbClr val="404040"/>
                </a:solidFill>
              </a:defRPr>
            </a:pPr>
            <a:r>
              <a:t>账户、支付、信审、数据分析等银行核心系统</a:t>
            </a:r>
          </a:p>
          <a:p>
            <a:pPr lvl="2">
              <a:spcAft>
                <a:spcPts val="1000"/>
              </a:spcAft>
              <a:defRPr sz="1400">
                <a:solidFill>
                  <a:srgbClr val="C0C0C0"/>
                </a:solidFill>
              </a:defRPr>
            </a:pPr>
            <a:r>
              <a:t>→ 稳定可靠的技术基础</a:t>
            </a:r>
          </a:p>
          <a:p>
            <a:pPr algn="ctr">
              <a:defRPr sz="2000" b="1">
                <a:solidFill>
                  <a:srgbClr val="CC0000"/>
                </a:solidFill>
              </a:defRPr>
            </a:pPr>
            <a:r>
              <a:t>设计理念：便捷 · 合规 · 智能 · 增长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CC0000"/>
                </a:solidFill>
              </a:defRPr>
            </a:pPr>
            <a:r>
              <a:t>5分钟极速申请：合规与便捷的完美平衡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600" b="1">
                <a:solidFill>
                  <a:srgbClr val="404040"/>
                </a:solidFill>
              </a:defRPr>
            </a:pPr>
            <a:r>
              <a:t>步骤1：入口/授权</a:t>
            </a:r>
          </a:p>
          <a:p>
            <a:pPr lvl="1">
              <a:spcAft>
                <a:spcPts val="800"/>
              </a:spcAft>
              <a:defRPr sz="1300">
                <a:solidFill>
                  <a:srgbClr val="404040"/>
                </a:solidFill>
              </a:defRPr>
            </a:pPr>
            <a:r>
              <a:t>从招行App/小程序进入，一键授权登录</a:t>
            </a:r>
          </a:p>
          <a:p>
            <a:pPr>
              <a:spcAft>
                <a:spcPts val="400"/>
              </a:spcAft>
              <a:defRPr sz="1600" b="1">
                <a:solidFill>
                  <a:srgbClr val="404040"/>
                </a:solidFill>
              </a:defRPr>
            </a:pPr>
            <a:r>
              <a:t>步骤2：车辆信息录入</a:t>
            </a:r>
          </a:p>
          <a:p>
            <a:pPr lvl="1">
              <a:spcAft>
                <a:spcPts val="800"/>
              </a:spcAft>
              <a:defRPr sz="1300">
                <a:solidFill>
                  <a:srgbClr val="404040"/>
                </a:solidFill>
              </a:defRPr>
            </a:pPr>
            <a:r>
              <a:t>OCR识别行驶证/购车发票，用户确认</a:t>
            </a:r>
          </a:p>
          <a:p>
            <a:pPr>
              <a:spcAft>
                <a:spcPts val="400"/>
              </a:spcAft>
              <a:defRPr sz="1600" b="1">
                <a:solidFill>
                  <a:srgbClr val="404040"/>
                </a:solidFill>
              </a:defRPr>
            </a:pPr>
            <a:r>
              <a:t>步骤3：证件验证</a:t>
            </a:r>
          </a:p>
          <a:p>
            <a:pPr lvl="1">
              <a:spcAft>
                <a:spcPts val="800"/>
              </a:spcAft>
              <a:defRPr sz="1300">
                <a:solidFill>
                  <a:srgbClr val="404040"/>
                </a:solidFill>
              </a:defRPr>
            </a:pPr>
            <a:r>
              <a:t>OCR识别人脸/身份证，与公安系统联网核验</a:t>
            </a:r>
          </a:p>
          <a:p>
            <a:pPr>
              <a:spcAft>
                <a:spcPts val="400"/>
              </a:spcAft>
              <a:defRPr sz="1600" b="1">
                <a:solidFill>
                  <a:srgbClr val="404040"/>
                </a:solidFill>
              </a:defRPr>
            </a:pPr>
            <a:r>
              <a:t>步骤4：绑定收款卡</a:t>
            </a:r>
          </a:p>
          <a:p>
            <a:pPr lvl="1">
              <a:spcAft>
                <a:spcPts val="800"/>
              </a:spcAft>
              <a:defRPr sz="1300">
                <a:solidFill>
                  <a:srgbClr val="404040"/>
                </a:solidFill>
              </a:defRPr>
            </a:pPr>
            <a:r>
              <a:t>• 智能引导：优先推荐绑定招行借记卡</a:t>
            </a:r>
            <a:br/>
            <a:r>
              <a:t>• 若用户选择他行卡，弹窗提示"使用招行卡可享额外好礼/更快到账"</a:t>
            </a:r>
            <a:br/>
            <a:r>
              <a:t>• 引导一键开立电子账户</a:t>
            </a:r>
            <a:br/>
            <a:r>
              <a:t>• 系统自动校验银行卡有效性</a:t>
            </a:r>
          </a:p>
          <a:p>
            <a:pPr>
              <a:spcAft>
                <a:spcPts val="400"/>
              </a:spcAft>
              <a:defRPr sz="1600" b="1">
                <a:solidFill>
                  <a:srgbClr val="404040"/>
                </a:solidFill>
              </a:defRPr>
            </a:pPr>
            <a:r>
              <a:t>步骤5：提交申请与进度查询</a:t>
            </a:r>
          </a:p>
          <a:p>
            <a:pPr lvl="1">
              <a:spcAft>
                <a:spcPts val="800"/>
              </a:spcAft>
              <a:defRPr sz="1300">
                <a:solidFill>
                  <a:srgbClr val="404040"/>
                </a:solidFill>
              </a:defRPr>
            </a:pPr>
            <a:r>
              <a:t>• 提交后生成申请编号</a:t>
            </a:r>
            <a:br/>
            <a:r>
              <a:t>• 用户可随时在"我的申请"中查看审核状态</a:t>
            </a:r>
            <a:br/>
            <a:r>
              <a:t>• 状态：待审核/审核通过/已驳回/补贴已发放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CC0000"/>
                </a:solidFill>
              </a:defRPr>
            </a:pPr>
            <a:r>
              <a:t>打造用户体验极致的申请小程序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2000" b="1">
                <a:solidFill>
                  <a:srgbClr val="404040"/>
                </a:solidFill>
              </a:defRPr>
            </a:pPr>
            <a:r>
              <a:t>◆ 申请入口</a:t>
            </a:r>
          </a:p>
          <a:p>
            <a:pPr lvl="1">
              <a:spcAft>
                <a:spcPts val="1200"/>
              </a:spcAft>
              <a:defRPr sz="1600">
                <a:solidFill>
                  <a:srgbClr val="404040"/>
                </a:solidFill>
              </a:defRPr>
            </a:pPr>
            <a:r>
              <a:t>简洁明了的申请按钮，突出"政府补贴"字样，吸引用户关注</a:t>
            </a:r>
          </a:p>
          <a:p>
            <a:pPr>
              <a:spcAft>
                <a:spcPts val="600"/>
              </a:spcAft>
              <a:defRPr sz="2000" b="1">
                <a:solidFill>
                  <a:srgbClr val="404040"/>
                </a:solidFill>
              </a:defRPr>
            </a:pPr>
            <a:r>
              <a:t>◆ 智能填报</a:t>
            </a:r>
          </a:p>
          <a:p>
            <a:pPr lvl="1">
              <a:spcAft>
                <a:spcPts val="1200"/>
              </a:spcAft>
              <a:defRPr sz="1600">
                <a:solidFill>
                  <a:srgbClr val="404040"/>
                </a:solidFill>
              </a:defRPr>
            </a:pPr>
            <a:r>
              <a:t>借助OCR和大数据技术，自动识别和预填信息，减少用户操作，提升体验</a:t>
            </a:r>
          </a:p>
          <a:p>
            <a:pPr>
              <a:spcAft>
                <a:spcPts val="600"/>
              </a:spcAft>
              <a:defRPr sz="2000" b="1">
                <a:solidFill>
                  <a:srgbClr val="404040"/>
                </a:solidFill>
              </a:defRPr>
            </a:pPr>
            <a:r>
              <a:t>◆ 资格初审</a:t>
            </a:r>
          </a:p>
          <a:p>
            <a:pPr lvl="1">
              <a:spcAft>
                <a:spcPts val="1200"/>
              </a:spcAft>
              <a:defRPr sz="1600">
                <a:solidFill>
                  <a:srgbClr val="404040"/>
                </a:solidFill>
              </a:defRPr>
            </a:pPr>
            <a:r>
              <a:t>基于规则引擎，对用户填写的资料进行实时自动初审</a:t>
            </a:r>
            <a:br/>
            <a:r>
              <a:t>对明显不符的申请进行即时提示，减少无效申请流入审核后台</a:t>
            </a:r>
          </a:p>
          <a:p>
            <a:pPr>
              <a:spcAft>
                <a:spcPts val="600"/>
              </a:spcAft>
              <a:defRPr sz="2000" b="1">
                <a:solidFill>
                  <a:srgbClr val="404040"/>
                </a:solidFill>
              </a:defRPr>
            </a:pPr>
            <a:r>
              <a:t>◆ 二次申请通道</a:t>
            </a:r>
          </a:p>
          <a:p>
            <a:pPr lvl="1">
              <a:spcAft>
                <a:spcPts val="1200"/>
              </a:spcAft>
              <a:defRPr sz="1600">
                <a:solidFill>
                  <a:srgbClr val="404040"/>
                </a:solidFill>
              </a:defRPr>
            </a:pPr>
            <a:r>
              <a:t>对于被驳回的申请，清晰告知驳回原因</a:t>
            </a:r>
            <a:br/>
            <a:r>
              <a:t>提供"补充材料/修改申请"的便捷通道，提升用户体验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CC0000"/>
                </a:solidFill>
              </a:defRPr>
            </a:pPr>
            <a:r>
              <a:t>高效智能的审核平台，赋能管理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2000" b="1">
                <a:solidFill>
                  <a:srgbClr val="404040"/>
                </a:solidFill>
              </a:defRPr>
            </a:pPr>
            <a:r>
              <a:t>◆ 审核工作台</a:t>
            </a:r>
          </a:p>
          <a:p>
            <a:pPr lvl="1">
              <a:spcAft>
                <a:spcPts val="1000"/>
              </a:spcAft>
              <a:defRPr sz="1600">
                <a:solidFill>
                  <a:srgbClr val="404040"/>
                </a:solidFill>
              </a:defRPr>
            </a:pPr>
            <a:r>
              <a:t>清晰展示待审核、已通过、已驳回的申请列表</a:t>
            </a:r>
            <a:br/>
            <a:r>
              <a:t>支持多维度筛选和排序，提升审核效率</a:t>
            </a:r>
          </a:p>
          <a:p>
            <a:pPr>
              <a:spcAft>
                <a:spcPts val="600"/>
              </a:spcAft>
              <a:defRPr sz="2000" b="1">
                <a:solidFill>
                  <a:srgbClr val="404040"/>
                </a:solidFill>
              </a:defRPr>
            </a:pPr>
            <a:r>
              <a:t>◆ 详情审查页</a:t>
            </a:r>
          </a:p>
          <a:p>
            <a:pPr lvl="1">
              <a:spcAft>
                <a:spcPts val="1000"/>
              </a:spcAft>
              <a:defRPr sz="1600">
                <a:solidFill>
                  <a:srgbClr val="404040"/>
                </a:solidFill>
              </a:defRPr>
            </a:pPr>
            <a:r>
              <a:t>集中展示单笔申请的所有信息（申请人、车辆、材料照片）</a:t>
            </a:r>
            <a:br/>
            <a:r>
              <a:t>关键信息高亮显示，便于快速审查</a:t>
            </a:r>
          </a:p>
          <a:p>
            <a:pPr>
              <a:spcAft>
                <a:spcPts val="600"/>
              </a:spcAft>
              <a:defRPr sz="2000" b="1">
                <a:solidFill>
                  <a:srgbClr val="404040"/>
                </a:solidFill>
              </a:defRPr>
            </a:pPr>
            <a:r>
              <a:t>◆ 一键审核</a:t>
            </a:r>
          </a:p>
          <a:p>
            <a:pPr lvl="1">
              <a:spcAft>
                <a:spcPts val="1000"/>
              </a:spcAft>
              <a:defRPr sz="1600">
                <a:solidFill>
                  <a:srgbClr val="404040"/>
                </a:solidFill>
              </a:defRPr>
            </a:pPr>
            <a:r>
              <a:t>审核员可一键"通过"或"驳回"</a:t>
            </a:r>
            <a:br/>
            <a:r>
              <a:t>驳回时需选择或填写原因，确保流程规范</a:t>
            </a:r>
          </a:p>
          <a:p>
            <a:pPr>
              <a:spcAft>
                <a:spcPts val="600"/>
              </a:spcAft>
              <a:defRPr sz="2000" b="1">
                <a:solidFill>
                  <a:srgbClr val="404040"/>
                </a:solidFill>
              </a:defRPr>
            </a:pPr>
            <a:r>
              <a:t>◆ 数据驾驶舱</a:t>
            </a:r>
          </a:p>
          <a:p>
            <a:pPr lvl="1">
              <a:spcAft>
                <a:spcPts val="1000"/>
              </a:spcAft>
              <a:defRPr sz="1600">
                <a:solidFill>
                  <a:srgbClr val="404040"/>
                </a:solidFill>
              </a:defRPr>
            </a:pPr>
            <a:r>
              <a:t>实时展示申请总量、审核进度、补贴发放总额、客群分析等核心KPI</a:t>
            </a:r>
            <a:br/>
            <a:r>
              <a:t>为项目决策提供数据支持，助力精准运营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CC0000"/>
                </a:solidFill>
              </a:defRPr>
            </a:pPr>
            <a:r>
              <a:t>不止于补贴：构建零售业务增长新引擎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200" b="1">
                <a:solidFill>
                  <a:srgbClr val="404040"/>
                </a:solidFill>
              </a:defRPr>
            </a:pPr>
            <a:r>
              <a:t>一、精准引流信贷业务</a:t>
            </a:r>
          </a:p>
          <a:p>
            <a:pPr lvl="1">
              <a:spcAft>
                <a:spcPts val="400"/>
              </a:spcAft>
              <a:defRPr sz="1700" b="1">
                <a:solidFill>
                  <a:srgbClr val="404040"/>
                </a:solidFill>
              </a:defRPr>
            </a:pPr>
            <a:r>
              <a:t>场景一（申请时）：</a:t>
            </a:r>
          </a:p>
          <a:p>
            <a:pPr lvl="2">
              <a:spcAft>
                <a:spcPts val="400"/>
              </a:spcAft>
              <a:defRPr sz="1400">
                <a:solidFill>
                  <a:srgbClr val="404040"/>
                </a:solidFill>
              </a:defRPr>
            </a:pPr>
            <a:r>
              <a:t>提交申请后，基于用户资质（如车辆价格）和数据模型，精准推送"招行车主信用卡"或"个人消费贷款"推荐，额度预估，一键申请</a:t>
            </a:r>
          </a:p>
          <a:p>
            <a:pPr lvl="2">
              <a:spcAft>
                <a:spcPts val="800"/>
              </a:spcAft>
              <a:defRPr sz="1300">
                <a:solidFill>
                  <a:srgbClr val="C0C0C0"/>
                </a:solidFill>
              </a:defRPr>
            </a:pPr>
            <a:r>
              <a:t>文案："恭喜！您已获得XX万元招行备用金资格，购车消费更轻松！"</a:t>
            </a:r>
          </a:p>
          <a:p>
            <a:pPr lvl="1">
              <a:spcAft>
                <a:spcPts val="400"/>
              </a:spcAft>
              <a:defRPr sz="1700" b="1">
                <a:solidFill>
                  <a:srgbClr val="404040"/>
                </a:solidFill>
              </a:defRPr>
            </a:pPr>
            <a:r>
              <a:t>场景二（等待时）：</a:t>
            </a:r>
          </a:p>
          <a:p>
            <a:pPr lvl="2">
              <a:spcAft>
                <a:spcPts val="1000"/>
              </a:spcAft>
              <a:defRPr sz="1400">
                <a:solidFill>
                  <a:srgbClr val="404040"/>
                </a:solidFill>
              </a:defRPr>
            </a:pPr>
            <a:r>
              <a:t>在申请进度查询页面，植入我行金融产品广告</a:t>
            </a:r>
          </a:p>
          <a:p>
            <a:pPr>
              <a:spcAft>
                <a:spcPts val="800"/>
              </a:spcAft>
              <a:defRPr sz="2200" b="1">
                <a:solidFill>
                  <a:srgbClr val="404040"/>
                </a:solidFill>
              </a:defRPr>
            </a:pPr>
            <a:r>
              <a:t>二、提升平台用户活跃度</a:t>
            </a:r>
          </a:p>
          <a:p>
            <a:pPr lvl="1">
              <a:spcAft>
                <a:spcPts val="400"/>
              </a:spcAft>
              <a:defRPr sz="1600" b="1">
                <a:solidFill>
                  <a:srgbClr val="404040"/>
                </a:solidFill>
              </a:defRPr>
            </a:pPr>
            <a:r>
              <a:t>• 引导绑卡：</a:t>
            </a:r>
          </a:p>
          <a:p>
            <a:pPr lvl="2">
              <a:spcAft>
                <a:spcPts val="600"/>
              </a:spcAft>
              <a:defRPr sz="1300">
                <a:solidFill>
                  <a:srgbClr val="404040"/>
                </a:solidFill>
              </a:defRPr>
            </a:pPr>
            <a:r>
              <a:t>强力引导用户使用招行借记卡领补贴，将其转化为我行有效客户</a:t>
            </a:r>
          </a:p>
          <a:p>
            <a:pPr lvl="1">
              <a:spcAft>
                <a:spcPts val="400"/>
              </a:spcAft>
              <a:defRPr sz="1600" b="1">
                <a:solidFill>
                  <a:srgbClr val="404040"/>
                </a:solidFill>
              </a:defRPr>
            </a:pPr>
            <a:r>
              <a:t>• App引流：</a:t>
            </a:r>
          </a:p>
          <a:p>
            <a:pPr lvl="2">
              <a:spcAft>
                <a:spcPts val="600"/>
              </a:spcAft>
              <a:defRPr sz="1300">
                <a:solidFill>
                  <a:srgbClr val="404040"/>
                </a:solidFill>
              </a:defRPr>
            </a:pPr>
            <a:r>
              <a:t>整个流程设计优先在招行App内完成，补贴发放后，通过App消息推送引导用户参与其他活动（如本地生活优惠、理财产品推荐），提升App月活</a:t>
            </a:r>
          </a:p>
          <a:p>
            <a:pPr lvl="1">
              <a:spcAft>
                <a:spcPts val="400"/>
              </a:spcAft>
              <a:defRPr sz="1600" b="1">
                <a:solidFill>
                  <a:srgbClr val="404040"/>
                </a:solidFill>
              </a:defRPr>
            </a:pPr>
            <a:r>
              <a:t>• 业务闭环：</a:t>
            </a:r>
          </a:p>
          <a:p>
            <a:pPr lvl="2">
              <a:spcAft>
                <a:spcPts val="600"/>
              </a:spcAft>
              <a:defRPr sz="1300">
                <a:solidFill>
                  <a:srgbClr val="404040"/>
                </a:solidFill>
              </a:defRPr>
            </a:pPr>
            <a:r>
              <a:t>实现"获客-活客-留客"闭环：通过本次活动获取新客，通过App互动激活客户，通过后续的综合金融服务留住客户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CC0000"/>
                </a:solidFill>
              </a:defRPr>
            </a:pPr>
            <a:r>
              <a:t>政银合作新标杆，共创社会与商业价值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2200" b="1">
                <a:solidFill>
                  <a:srgbClr val="404040"/>
                </a:solidFill>
              </a:defRPr>
            </a:pPr>
            <a:r>
              <a:t>▶ 对政府</a:t>
            </a:r>
          </a:p>
          <a:p>
            <a:pPr lvl="1">
              <a:spcAft>
                <a:spcPts val="1200"/>
              </a:spcAft>
              <a:defRPr sz="1600">
                <a:solidFill>
                  <a:srgbClr val="404040"/>
                </a:solidFill>
              </a:defRPr>
            </a:pPr>
            <a:r>
              <a:t>高效、透明、精准地落实了民生补贴政策</a:t>
            </a:r>
            <a:br/>
            <a:r>
              <a:t>提升了政府公共服务的现代化水平</a:t>
            </a:r>
          </a:p>
          <a:p>
            <a:pPr>
              <a:spcAft>
                <a:spcPts val="600"/>
              </a:spcAft>
              <a:defRPr sz="2200" b="1">
                <a:solidFill>
                  <a:srgbClr val="404040"/>
                </a:solidFill>
              </a:defRPr>
            </a:pPr>
            <a:r>
              <a:t>▶ 对市民</a:t>
            </a:r>
          </a:p>
          <a:p>
            <a:pPr lvl="1">
              <a:spcAft>
                <a:spcPts val="1200"/>
              </a:spcAft>
              <a:defRPr sz="1600">
                <a:solidFill>
                  <a:srgbClr val="404040"/>
                </a:solidFill>
              </a:defRPr>
            </a:pPr>
            <a:r>
              <a:t>提供了便捷、优质的补贴申请体验</a:t>
            </a:r>
            <a:br/>
            <a:r>
              <a:t>真正享受到政府惠民政策的实惠</a:t>
            </a:r>
          </a:p>
          <a:p>
            <a:pPr>
              <a:spcAft>
                <a:spcPts val="600"/>
              </a:spcAft>
              <a:defRPr sz="2200" b="1">
                <a:solidFill>
                  <a:srgbClr val="404040"/>
                </a:solidFill>
              </a:defRPr>
            </a:pPr>
            <a:r>
              <a:t>▶ 对招行</a:t>
            </a:r>
          </a:p>
          <a:p>
            <a:pPr lvl="1">
              <a:spcAft>
                <a:spcPts val="400"/>
              </a:spcAft>
              <a:defRPr sz="1800" b="1">
                <a:solidFill>
                  <a:srgbClr val="404040"/>
                </a:solidFill>
              </a:defRPr>
            </a:pPr>
            <a:r>
              <a:t>  • 品牌价值：</a:t>
            </a:r>
          </a:p>
          <a:p>
            <a:pPr lvl="2">
              <a:spcAft>
                <a:spcPts val="1000"/>
              </a:spcAft>
              <a:defRPr sz="1500">
                <a:solidFill>
                  <a:srgbClr val="404040"/>
                </a:solidFill>
              </a:defRPr>
            </a:pPr>
            <a:r>
              <a:t>树立了有担当、有能力的社会责任形象</a:t>
            </a:r>
          </a:p>
          <a:p>
            <a:pPr lvl="1">
              <a:spcAft>
                <a:spcPts val="400"/>
              </a:spcAft>
              <a:defRPr sz="1800" b="1">
                <a:solidFill>
                  <a:srgbClr val="404040"/>
                </a:solidFill>
              </a:defRPr>
            </a:pPr>
            <a:r>
              <a:t>  • 商业价值：</a:t>
            </a:r>
          </a:p>
          <a:p>
            <a:pPr lvl="2">
              <a:spcAft>
                <a:spcPts val="1000"/>
              </a:spcAft>
              <a:defRPr sz="1500">
                <a:solidFill>
                  <a:srgbClr val="404040"/>
                </a:solidFill>
              </a:defRPr>
            </a:pPr>
            <a:r>
              <a:t>批量获取了高质量车主客户，并成功带动了信用卡、贷款、App活跃度等多项业务指标的增长</a:t>
            </a:r>
          </a:p>
          <a:p>
            <a:pPr algn="ctr">
              <a:spcBef>
                <a:spcPts val="2000"/>
              </a:spcBef>
              <a:defRPr sz="2000" b="1">
                <a:solidFill>
                  <a:srgbClr val="CC0000"/>
                </a:solidFill>
              </a:defRPr>
            </a:pPr>
            <a:r>
              <a:t>恳请领导审议，我们有信心将此项目打造成政银合作的典范！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CC0000"/>
                </a:solidFill>
              </a:defRPr>
            </a:pPr>
            <a:r>
              <a:t>谢谢聆听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404040"/>
                </a:solidFill>
              </a:defRPr>
            </a:pPr>
            <a:r>
              <a:t>招商银行零售金融部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C0000"/>
                </a:solidFill>
              </a:defRPr>
            </a:pPr>
            <a:r>
              <a:t>招商银行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